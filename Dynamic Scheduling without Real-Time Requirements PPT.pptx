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42C29-9710-490C-9666-EF6BE4120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5BEB83-1029-4C2E-8367-F3F21E3C2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927D8-5EDB-43B0-87DA-4586CD25C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8812-EDFB-4E9C-8448-08E50BD3B003}" type="datetimeFigureOut">
              <a:rPr lang="de-DE" smtClean="0"/>
              <a:t>29.06.2025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7F46B-8C09-4E73-8FF9-1980343FE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8884A-285D-4C8D-97E2-96AB51BDE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7331-EE47-4E30-AEA5-57664E7EA31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7210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B69A3-2E66-492B-B23D-09E5D7459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FB171-866E-40F9-8C99-A77E0F9A6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9E2D7-1D54-4783-8631-3ED511FB6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8812-EDFB-4E9C-8448-08E50BD3B003}" type="datetimeFigureOut">
              <a:rPr lang="de-DE" smtClean="0"/>
              <a:t>29.06.2025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CCC83-CD6C-40D7-A3AE-7A7946398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940CC-5448-4943-8EA5-A8961617E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7331-EE47-4E30-AEA5-57664E7EA31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0569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76E91-EB4E-470C-951B-4646BA619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75F4C-DACC-4CC5-923F-57EF2C93E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C4511-86F5-46FF-9A05-66E3F5D1D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8812-EDFB-4E9C-8448-08E50BD3B003}" type="datetimeFigureOut">
              <a:rPr lang="de-DE" smtClean="0"/>
              <a:t>29.06.2025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DC47F-B80C-4AE1-B4C6-08FD3CA9F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48A46-A0AB-43F8-A44D-756E6598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7331-EE47-4E30-AEA5-57664E7EA31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2975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7EAF4-FF23-44ED-B36D-2419EDAE8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98E3C-C80A-4418-A578-61DB23B5FD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5E3F42-518C-441F-AFA4-5C81C51B4A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0FEEFB-F56D-4C33-9958-F95398C71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8812-EDFB-4E9C-8448-08E50BD3B003}" type="datetimeFigureOut">
              <a:rPr lang="de-DE" smtClean="0"/>
              <a:t>29.06.2025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B47AF-416A-498A-AE5B-B06A068B4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481974-A3B1-47FE-B66B-E24EE363F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7331-EE47-4E30-AEA5-57664E7EA31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5882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ED576-135A-4725-B725-0E36DEE07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50050-E499-448B-B6D9-4C6B5995B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C1B91-8203-4347-B93E-743ADA179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920D0-45A8-40F3-B78F-29D4A65071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2726A4-B3D3-466F-8DD0-047D61C74C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FF80B0-18F7-466F-B321-F3D1C17F5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8812-EDFB-4E9C-8448-08E50BD3B003}" type="datetimeFigureOut">
              <a:rPr lang="de-DE" smtClean="0"/>
              <a:t>29.06.2025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3A76B2-D362-4394-A6E5-826FDA312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F52E0C-8531-494E-95F3-5BD99FE30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7331-EE47-4E30-AEA5-57664E7EA31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1295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15FB9-2705-4286-ADB2-FDB89C158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09A32A-9E97-47C0-BAEB-74B576B0F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8812-EDFB-4E9C-8448-08E50BD3B003}" type="datetimeFigureOut">
              <a:rPr lang="de-DE" smtClean="0"/>
              <a:t>29.06.2025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66C00A-534F-4503-B747-58C6D731A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349B03-121F-467A-BFAE-E996E7F5A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7331-EE47-4E30-AEA5-57664E7EA31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9274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453CDB-31F7-48EB-9980-4BE0CCA69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8812-EDFB-4E9C-8448-08E50BD3B003}" type="datetimeFigureOut">
              <a:rPr lang="de-DE" smtClean="0"/>
              <a:t>29.06.2025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284822-4A84-437B-8A07-55A95F6F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6E675-1D68-4974-AA3E-2DD6D571A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7331-EE47-4E30-AEA5-57664E7EA31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9517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7D6A2-6585-4AB0-982E-A613A1D3A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F598F-9CF9-4A1B-B8D0-171A4F876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8B1A7D-859B-4298-B191-8E04565C6F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5583F1-6629-4BDA-95E6-645F3803B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8812-EDFB-4E9C-8448-08E50BD3B003}" type="datetimeFigureOut">
              <a:rPr lang="de-DE" smtClean="0"/>
              <a:t>29.06.2025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AD919-DCF2-4AF6-8A49-23C9E0E99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32A475-1E21-4F8F-9B31-D5D5878C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7331-EE47-4E30-AEA5-57664E7EA31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1849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6ADAC-EB34-430E-9C0E-0CEB02CF9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AA25A1-E59F-4885-A47D-25997948CA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F6DF9F-BF2E-4874-AE5A-C95B854AF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38249A-9ED2-4CB8-8F0E-5B5BA9878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8812-EDFB-4E9C-8448-08E50BD3B003}" type="datetimeFigureOut">
              <a:rPr lang="de-DE" smtClean="0"/>
              <a:t>29.06.2025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45B30-9D6F-4C46-A629-E5E3447A7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9CC8A-C88D-4478-8307-F3875A300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7331-EE47-4E30-AEA5-57664E7EA31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8604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09FE0-EB9F-4701-9000-82F622E00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E91C0C-E54F-4C9B-AE8B-D13FE6F12A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021A3-12B1-4A89-B488-85C6FC04A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8812-EDFB-4E9C-8448-08E50BD3B003}" type="datetimeFigureOut">
              <a:rPr lang="de-DE" smtClean="0"/>
              <a:t>29.06.2025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061E1-C1B5-43C6-BFA9-BA4DF8F6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196EF-2E96-4F78-8ABE-25F76B7F1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7331-EE47-4E30-AEA5-57664E7EA31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8834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920F8B-99D9-44EE-A664-5F253232CC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C4F65C-50B5-4EF9-B912-C676ADDC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C252D-6B02-4515-858A-00359DF99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48812-EDFB-4E9C-8448-08E50BD3B003}" type="datetimeFigureOut">
              <a:rPr lang="de-DE" smtClean="0"/>
              <a:t>29.06.2025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D4A66-0252-4822-9444-90E5F8D97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7AFD76-B798-424B-8FF7-58D0FC7C2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47331-EE47-4E30-AEA5-57664E7EA31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4973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8299AD-086C-47EC-ADF5-E0C498A2B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36CF5A-1154-4C57-AA81-8A8E53D87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404BF-B685-4492-92F9-070FDBDCD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D48812-EDFB-4E9C-8448-08E50BD3B003}" type="datetimeFigureOut">
              <a:rPr lang="de-DE" smtClean="0"/>
              <a:t>29.06.2025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F0E2F-EC67-44A4-B22E-BAFD98921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20CDF-6322-458B-8745-2B1AD2AD57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47331-EE47-4E30-AEA5-57664E7EA31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9703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30638"/>
            <a:ext cx="9144000" cy="1655762"/>
          </a:xfrm>
        </p:spPr>
        <p:txBody>
          <a:bodyPr/>
          <a:lstStyle/>
          <a:p>
            <a:r>
              <a:rPr dirty="0" err="1"/>
              <a:t>Moiz</a:t>
            </a:r>
            <a:r>
              <a:rPr dirty="0"/>
              <a:t> Zaheer Malik | Hochschule Hamm-Lippstadt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F1D2E-C232-47B2-8FD8-C6E0AC907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B3EF8B8-961F-466D-9C1F-F03D275087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Dynamic Scheduling without Real-Time Requirements</a:t>
            </a:r>
            <a:endParaRPr lang="de-DE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sz="2000" dirty="0"/>
              <a:t>HLS converts algorithms to hardware.</a:t>
            </a:r>
          </a:p>
          <a:p>
            <a:r>
              <a:rPr sz="2000" dirty="0"/>
              <a:t>Static scheduling assigns fixed time slots (FSM).</a:t>
            </a:r>
          </a:p>
          <a:p>
            <a:r>
              <a:rPr sz="2000" dirty="0"/>
              <a:t>Dynamic scheduling reacts to run-time conditions.</a:t>
            </a:r>
          </a:p>
          <a:p>
            <a:r>
              <a:rPr sz="2000" dirty="0"/>
              <a:t>Useful for systems where timing isn't critical.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5861D-9733-4196-8CBD-172DF429C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A9B8DB-23E2-4DB6-AAA2-5A3E15E8E476}"/>
              </a:ext>
            </a:extLst>
          </p:cNvPr>
          <p:cNvSpPr/>
          <p:nvPr/>
        </p:nvSpPr>
        <p:spPr>
          <a:xfrm>
            <a:off x="8077200" y="6031245"/>
            <a:ext cx="19863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400" dirty="0" err="1"/>
              <a:t>Referenced</a:t>
            </a:r>
            <a:r>
              <a:rPr lang="de-DE" sz="1400" dirty="0"/>
              <a:t> </a:t>
            </a:r>
            <a:r>
              <a:rPr lang="de-DE" sz="1400" dirty="0" err="1"/>
              <a:t>from</a:t>
            </a:r>
            <a:r>
              <a:rPr lang="de-DE" sz="1400" dirty="0"/>
              <a:t>: [1] [4]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DC0BB2-C857-4D9D-AB0C-1594BB6A9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1179344"/>
            <a:ext cx="2447273" cy="466933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3F1EF1C-1FE9-4D3B-B9B1-BDA0D5F3E543}"/>
              </a:ext>
            </a:extLst>
          </p:cNvPr>
          <p:cNvSpPr/>
          <p:nvPr/>
        </p:nvSpPr>
        <p:spPr>
          <a:xfrm>
            <a:off x="10303098" y="5569044"/>
            <a:ext cx="4427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[4]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1883E4-257D-4A1A-9EAE-ED8A61DB412E}"/>
              </a:ext>
            </a:extLst>
          </p:cNvPr>
          <p:cNvCxnSpPr>
            <a:cxnSpLocks/>
          </p:cNvCxnSpPr>
          <p:nvPr/>
        </p:nvCxnSpPr>
        <p:spPr>
          <a:xfrm>
            <a:off x="10524473" y="4047861"/>
            <a:ext cx="0" cy="74850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78788E4-A0BB-4D6E-A5E6-5B3F1897E80C}"/>
              </a:ext>
            </a:extLst>
          </p:cNvPr>
          <p:cNvCxnSpPr>
            <a:cxnSpLocks/>
          </p:cNvCxnSpPr>
          <p:nvPr/>
        </p:nvCxnSpPr>
        <p:spPr>
          <a:xfrm>
            <a:off x="7840540" y="4039394"/>
            <a:ext cx="0" cy="74850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1AF9D90-90AB-4092-A95B-E24BC3719FED}"/>
              </a:ext>
            </a:extLst>
          </p:cNvPr>
          <p:cNvCxnSpPr>
            <a:cxnSpLocks/>
          </p:cNvCxnSpPr>
          <p:nvPr/>
        </p:nvCxnSpPr>
        <p:spPr>
          <a:xfrm>
            <a:off x="7840540" y="4047861"/>
            <a:ext cx="268393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E1DA82D-928A-4CFC-942D-457B0332A64C}"/>
              </a:ext>
            </a:extLst>
          </p:cNvPr>
          <p:cNvCxnSpPr>
            <a:cxnSpLocks/>
          </p:cNvCxnSpPr>
          <p:nvPr/>
        </p:nvCxnSpPr>
        <p:spPr>
          <a:xfrm>
            <a:off x="7840540" y="4787901"/>
            <a:ext cx="268393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r>
              <a:rPr lang="de-DE" sz="2800" dirty="0"/>
              <a:t>Motivation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9926" y="1642828"/>
            <a:ext cx="8229600" cy="4525963"/>
          </a:xfrm>
        </p:spPr>
        <p:txBody>
          <a:bodyPr>
            <a:normAutofit/>
          </a:bodyPr>
          <a:lstStyle/>
          <a:p>
            <a:r>
              <a:rPr sz="2000" dirty="0"/>
              <a:t>Real-time systems need exact timing</a:t>
            </a:r>
            <a:r>
              <a:rPr lang="de-DE" sz="2000" dirty="0"/>
              <a:t>,</a:t>
            </a:r>
            <a:r>
              <a:rPr sz="2000" dirty="0"/>
              <a:t> but many modern systems don't.</a:t>
            </a:r>
          </a:p>
          <a:p>
            <a:r>
              <a:rPr sz="2000" dirty="0"/>
              <a:t>Multimedia,</a:t>
            </a:r>
            <a:r>
              <a:rPr lang="de-DE" sz="2000" dirty="0"/>
              <a:t> </a:t>
            </a:r>
            <a:r>
              <a:rPr lang="de-DE" sz="2000" dirty="0" err="1"/>
              <a:t>SmartPhones</a:t>
            </a:r>
            <a:r>
              <a:rPr sz="2000" dirty="0"/>
              <a:t>.</a:t>
            </a:r>
          </a:p>
          <a:p>
            <a:r>
              <a:rPr sz="2000" dirty="0"/>
              <a:t>Static scheduling wastes time when tasks finish early.</a:t>
            </a:r>
          </a:p>
          <a:p>
            <a:r>
              <a:rPr sz="2000" dirty="0"/>
              <a:t>Dynamic scheduling helps</a:t>
            </a:r>
            <a:r>
              <a:rPr lang="de-DE" sz="2000" dirty="0"/>
              <a:t> </a:t>
            </a:r>
            <a:r>
              <a:rPr lang="de-DE" sz="2000" dirty="0" err="1"/>
              <a:t>by</a:t>
            </a:r>
            <a:r>
              <a:rPr sz="2000" dirty="0"/>
              <a:t> </a:t>
            </a:r>
            <a:r>
              <a:rPr lang="en-US" sz="2000" dirty="0"/>
              <a:t>responding what's actually happening</a:t>
            </a:r>
            <a:endParaRPr sz="2000" dirty="0"/>
          </a:p>
          <a:p>
            <a:r>
              <a:rPr sz="2000" dirty="0"/>
              <a:t>It </a:t>
            </a:r>
            <a:r>
              <a:rPr lang="en-US" sz="2000" dirty="0"/>
              <a:t>hardware busy, improves performance, and also saves power</a:t>
            </a:r>
            <a:r>
              <a:rPr sz="2000" dirty="0"/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521B44-E340-4506-A4EC-4A0DD90A57D8}"/>
              </a:ext>
            </a:extLst>
          </p:cNvPr>
          <p:cNvSpPr/>
          <p:nvPr/>
        </p:nvSpPr>
        <p:spPr>
          <a:xfrm>
            <a:off x="8077200" y="6031245"/>
            <a:ext cx="21723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400" dirty="0" err="1"/>
              <a:t>Referenced</a:t>
            </a:r>
            <a:r>
              <a:rPr lang="de-DE" sz="1400" dirty="0"/>
              <a:t> </a:t>
            </a:r>
            <a:r>
              <a:rPr lang="de-DE" sz="1400" dirty="0" err="1"/>
              <a:t>from</a:t>
            </a:r>
            <a:r>
              <a:rPr lang="de-DE" sz="1400" dirty="0"/>
              <a:t>: [1] [3] [4]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39DE6-B02B-45BA-8829-482A127DE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DB89C5-6C94-486A-A159-CC9F2BB8D1A5}"/>
              </a:ext>
            </a:extLst>
          </p:cNvPr>
          <p:cNvSpPr/>
          <p:nvPr/>
        </p:nvSpPr>
        <p:spPr>
          <a:xfrm>
            <a:off x="3803352" y="865158"/>
            <a:ext cx="46656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3200" b="1" dirty="0" err="1"/>
              <a:t>Why</a:t>
            </a:r>
            <a:r>
              <a:rPr lang="de-DE" sz="3200" b="1" dirty="0"/>
              <a:t> Dynamic Scheduling?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Static vs. Dynamic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61608"/>
            <a:ext cx="8229600" cy="4525963"/>
          </a:xfrm>
        </p:spPr>
        <p:txBody>
          <a:bodyPr>
            <a:normAutofit/>
          </a:bodyPr>
          <a:lstStyle/>
          <a:p>
            <a:r>
              <a:rPr sz="2000" dirty="0"/>
              <a:t>Static: Fixed order &amp; timing, predictable but can waste resources.</a:t>
            </a:r>
          </a:p>
          <a:p>
            <a:r>
              <a:rPr sz="2000" dirty="0"/>
              <a:t>Dynamic: Tasks scheduled based on data readiness.</a:t>
            </a:r>
          </a:p>
          <a:p>
            <a:r>
              <a:rPr sz="2000" dirty="0"/>
              <a:t>Dynamic allows better utilization but adds complexity.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AEBD5B-62A4-4CBD-9442-B51CECD79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14CAB2-9156-403F-996B-07749D4CFEBB}"/>
              </a:ext>
            </a:extLst>
          </p:cNvPr>
          <p:cNvSpPr/>
          <p:nvPr/>
        </p:nvSpPr>
        <p:spPr>
          <a:xfrm>
            <a:off x="8077200" y="6031245"/>
            <a:ext cx="24127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400" dirty="0" err="1"/>
              <a:t>Referenced</a:t>
            </a:r>
            <a:r>
              <a:rPr lang="de-DE" sz="1400" dirty="0"/>
              <a:t> </a:t>
            </a:r>
            <a:r>
              <a:rPr lang="de-DE" sz="1400" dirty="0" err="1"/>
              <a:t>from</a:t>
            </a:r>
            <a:r>
              <a:rPr lang="de-DE" sz="1400" dirty="0"/>
              <a:t>: [1] [2] [3] [4]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Formal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449015"/>
            <a:ext cx="8229600" cy="4525963"/>
          </a:xfrm>
        </p:spPr>
        <p:txBody>
          <a:bodyPr>
            <a:normAutofit/>
          </a:bodyPr>
          <a:lstStyle/>
          <a:p>
            <a:r>
              <a:rPr sz="2000" dirty="0"/>
              <a:t>Uses Control/Data Flow Graphs (CDFG).</a:t>
            </a:r>
            <a:r>
              <a:rPr lang="de-DE" sz="2000" dirty="0"/>
              <a:t> </a:t>
            </a:r>
          </a:p>
          <a:p>
            <a:pPr marL="0" indent="0">
              <a:buNone/>
            </a:pPr>
            <a:r>
              <a:rPr lang="de-DE" sz="2000" dirty="0"/>
              <a:t>		</a:t>
            </a:r>
            <a:r>
              <a:rPr lang="de-DE" sz="2000" dirty="0" err="1"/>
              <a:t>tj</a:t>
            </a:r>
            <a:r>
              <a:rPr lang="de-DE" sz="2000" dirty="0"/>
              <a:t> ≥ </a:t>
            </a:r>
            <a:r>
              <a:rPr lang="de-DE" sz="2000" dirty="0" err="1"/>
              <a:t>ti</a:t>
            </a:r>
            <a:r>
              <a:rPr lang="de-DE" sz="2000" dirty="0"/>
              <a:t> + di</a:t>
            </a:r>
          </a:p>
          <a:p>
            <a:pPr marL="0" indent="0">
              <a:buNone/>
            </a:pPr>
            <a:r>
              <a:rPr lang="en-US" sz="2000" b="1" dirty="0"/>
              <a:t> 	What it means:</a:t>
            </a:r>
          </a:p>
          <a:p>
            <a:pPr marL="0" indent="0">
              <a:buNone/>
            </a:pPr>
            <a:r>
              <a:rPr lang="en-US" sz="2000" dirty="0"/>
              <a:t>	Operation</a:t>
            </a:r>
            <a:r>
              <a:rPr lang="en-US" sz="2000" b="1" dirty="0"/>
              <a:t> j </a:t>
            </a:r>
            <a:r>
              <a:rPr lang="en-US" sz="2000" dirty="0"/>
              <a:t>can only start after operation </a:t>
            </a:r>
            <a:r>
              <a:rPr lang="en-US" sz="2000" b="1" dirty="0" err="1"/>
              <a:t>i</a:t>
            </a:r>
            <a:r>
              <a:rPr lang="en-US" sz="2000" dirty="0"/>
              <a:t> has finished,</a:t>
            </a:r>
          </a:p>
          <a:p>
            <a:pPr marL="0" indent="0">
              <a:buNone/>
            </a:pPr>
            <a:r>
              <a:rPr lang="en-US" sz="2000" b="1" dirty="0"/>
              <a:t>	di</a:t>
            </a:r>
            <a:r>
              <a:rPr lang="en-US" sz="2000" dirty="0"/>
              <a:t> is the time</a:t>
            </a:r>
            <a:r>
              <a:rPr lang="en-US" sz="2000" b="1" dirty="0"/>
              <a:t> </a:t>
            </a:r>
            <a:r>
              <a:rPr lang="en-US" sz="2000" b="1" dirty="0" err="1"/>
              <a:t>i</a:t>
            </a:r>
            <a:r>
              <a:rPr lang="en-US" sz="2000" b="1" dirty="0"/>
              <a:t> </a:t>
            </a:r>
            <a:r>
              <a:rPr lang="en-US" sz="2000" dirty="0"/>
              <a:t>takes.</a:t>
            </a:r>
            <a:endParaRPr lang="de-DE" sz="2000" dirty="0"/>
          </a:p>
          <a:p>
            <a:pPr marL="0" indent="0">
              <a:buNone/>
            </a:pPr>
            <a:endParaRPr sz="2000" dirty="0"/>
          </a:p>
          <a:p>
            <a:r>
              <a:rPr sz="2000" dirty="0"/>
              <a:t>Relative scheduling: operation start depends on others.</a:t>
            </a:r>
            <a:r>
              <a:rPr lang="de-DE" sz="2000" dirty="0"/>
              <a:t> </a:t>
            </a:r>
          </a:p>
          <a:p>
            <a:endParaRPr lang="de-DE" sz="2000" dirty="0"/>
          </a:p>
          <a:p>
            <a:r>
              <a:rPr lang="en-US" sz="2000" dirty="0"/>
              <a:t>Mobility: how flexible the operation's start time is.</a:t>
            </a:r>
            <a:endParaRPr lang="de-DE" sz="2000" dirty="0"/>
          </a:p>
          <a:p>
            <a:r>
              <a:rPr lang="pl-PL" sz="2000" dirty="0"/>
              <a:t>mobility(u) = tALAP(u) − tASAP(u)</a:t>
            </a:r>
            <a:endParaRPr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D4D92-6187-4581-A82C-067BE7C76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B043E4-6E9D-4483-BAF6-EEA0EF17B5E1}"/>
              </a:ext>
            </a:extLst>
          </p:cNvPr>
          <p:cNvSpPr/>
          <p:nvPr/>
        </p:nvSpPr>
        <p:spPr>
          <a:xfrm>
            <a:off x="8077200" y="6031245"/>
            <a:ext cx="20264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400" dirty="0" err="1"/>
              <a:t>Referenced</a:t>
            </a:r>
            <a:r>
              <a:rPr lang="de-DE" sz="1400" dirty="0"/>
              <a:t> </a:t>
            </a:r>
            <a:r>
              <a:rPr lang="de-DE" sz="1400" dirty="0" err="1"/>
              <a:t>from</a:t>
            </a:r>
            <a:r>
              <a:rPr lang="de-DE" sz="1400" dirty="0"/>
              <a:t>: [2] [3]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2E8AD6-3F31-49D9-9383-E842D5088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777" y="2984715"/>
            <a:ext cx="2742446" cy="273482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F632570-48B9-4534-9464-3E5074862A86}"/>
              </a:ext>
            </a:extLst>
          </p:cNvPr>
          <p:cNvSpPr/>
          <p:nvPr/>
        </p:nvSpPr>
        <p:spPr>
          <a:xfrm>
            <a:off x="9962976" y="5038510"/>
            <a:ext cx="4956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/>
              <a:t>[2] 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C61FE65-95B7-444D-A72E-19569D6FD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1" y="4792290"/>
            <a:ext cx="198483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sz="1050" b="1" dirty="0"/>
              <a:t>ASAP = As Soon As Possible time</a:t>
            </a:r>
            <a:br>
              <a:rPr lang="de-DE" altLang="de-DE" sz="1050" b="1" dirty="0"/>
            </a:br>
            <a:r>
              <a:rPr lang="de-DE" altLang="de-DE" sz="1050" b="1" dirty="0"/>
              <a:t>ALAP = As Late As Possible time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 Hardware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Scheduler logic: centralized or distributed.</a:t>
            </a:r>
          </a:p>
          <a:p>
            <a:r>
              <a:rPr sz="2000" dirty="0"/>
              <a:t>Arbitration units manage resource conflicts.</a:t>
            </a:r>
          </a:p>
          <a:p>
            <a:r>
              <a:rPr lang="en-US" sz="2000" dirty="0"/>
              <a:t>follow rules like priority or round robin</a:t>
            </a:r>
            <a:endParaRPr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75827-44B1-4512-B74C-A9BD59AE1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72A761-8D10-420D-9524-3637847E2B74}"/>
              </a:ext>
            </a:extLst>
          </p:cNvPr>
          <p:cNvSpPr/>
          <p:nvPr/>
        </p:nvSpPr>
        <p:spPr>
          <a:xfrm>
            <a:off x="8077200" y="6031245"/>
            <a:ext cx="20120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400" dirty="0" err="1"/>
              <a:t>Referenced</a:t>
            </a:r>
            <a:r>
              <a:rPr lang="de-DE" sz="1400" dirty="0"/>
              <a:t> </a:t>
            </a:r>
            <a:r>
              <a:rPr lang="de-DE" sz="1400" dirty="0" err="1"/>
              <a:t>from</a:t>
            </a:r>
            <a:r>
              <a:rPr lang="de-DE" sz="1400" dirty="0"/>
              <a:t>:  [2] [3]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 Use Case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6576"/>
            <a:ext cx="10515600" cy="4351338"/>
          </a:xfrm>
        </p:spPr>
        <p:txBody>
          <a:bodyPr>
            <a:normAutofit/>
          </a:bodyPr>
          <a:lstStyle/>
          <a:p>
            <a:r>
              <a:rPr sz="2000" dirty="0"/>
              <a:t>MPEG-2 decoder using self-timed pipeline.</a:t>
            </a:r>
          </a:p>
          <a:p>
            <a:r>
              <a:rPr sz="2000" dirty="0"/>
              <a:t>Dynamic activation of needed blocks to save power.</a:t>
            </a:r>
          </a:p>
          <a:p>
            <a:r>
              <a:rPr sz="2000" dirty="0"/>
              <a:t>Improved average performance &amp; power savings.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AF3A0-8FB0-4588-936A-F714F8C72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11E074-E469-457B-B7DE-D96D7A5E26C2}"/>
              </a:ext>
            </a:extLst>
          </p:cNvPr>
          <p:cNvSpPr/>
          <p:nvPr/>
        </p:nvSpPr>
        <p:spPr>
          <a:xfrm>
            <a:off x="8613976" y="6083020"/>
            <a:ext cx="16914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400" dirty="0" err="1"/>
              <a:t>Referenced</a:t>
            </a:r>
            <a:r>
              <a:rPr lang="de-DE" sz="1400" dirty="0"/>
              <a:t> </a:t>
            </a:r>
            <a:r>
              <a:rPr lang="de-DE" sz="1400" dirty="0" err="1"/>
              <a:t>from</a:t>
            </a:r>
            <a:r>
              <a:rPr lang="de-DE" sz="1400" dirty="0"/>
              <a:t>: [3]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Benefits &amp;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Pros: Higher performance, better utilization, power savings.</a:t>
            </a:r>
          </a:p>
          <a:p>
            <a:r>
              <a:rPr sz="2000" dirty="0"/>
              <a:t>Cons: Increased hardware cost, complex verification.</a:t>
            </a:r>
          </a:p>
          <a:p>
            <a:r>
              <a:rPr sz="2000" dirty="0"/>
              <a:t>Hybrid methods offer balance between both approaches.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1DCFD-0CAA-41AF-9F0D-CDFE5BF9F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D926EC-CDFA-4449-BD3A-3E13B6342273}"/>
              </a:ext>
            </a:extLst>
          </p:cNvPr>
          <p:cNvSpPr/>
          <p:nvPr/>
        </p:nvSpPr>
        <p:spPr>
          <a:xfrm>
            <a:off x="8077200" y="6031245"/>
            <a:ext cx="222682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400" dirty="0" err="1"/>
              <a:t>Referenced</a:t>
            </a:r>
            <a:r>
              <a:rPr lang="de-DE" sz="1400" dirty="0"/>
              <a:t> </a:t>
            </a:r>
            <a:r>
              <a:rPr lang="de-DE" sz="1400" dirty="0" err="1"/>
              <a:t>from</a:t>
            </a:r>
            <a:r>
              <a:rPr lang="de-DE" sz="1400" dirty="0"/>
              <a:t>: [1] [3] [4]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b="1" dirty="0"/>
              <a:t>When to Use Dynamic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Best for multimedia, adaptive systems without hard deadlines.</a:t>
            </a:r>
          </a:p>
          <a:p>
            <a:r>
              <a:rPr sz="2000" dirty="0"/>
              <a:t>Avoid for safety-critical systems needing strict timing.</a:t>
            </a:r>
          </a:p>
          <a:p>
            <a:r>
              <a:rPr sz="2000" dirty="0"/>
              <a:t>Use hybrid when partial flexibility is okay.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F33BB-1CD4-4DCD-9C19-EBE00639B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F0FE97-41A4-42C4-A312-C9506B636510}"/>
              </a:ext>
            </a:extLst>
          </p:cNvPr>
          <p:cNvSpPr/>
          <p:nvPr/>
        </p:nvSpPr>
        <p:spPr>
          <a:xfrm>
            <a:off x="8077200" y="6031245"/>
            <a:ext cx="21723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400" dirty="0" err="1"/>
              <a:t>Referenced</a:t>
            </a:r>
            <a:r>
              <a:rPr lang="de-DE" sz="1400" dirty="0"/>
              <a:t> </a:t>
            </a:r>
            <a:r>
              <a:rPr lang="de-DE" sz="1400" dirty="0" err="1"/>
              <a:t>from</a:t>
            </a:r>
            <a:r>
              <a:rPr lang="de-DE" sz="1400" dirty="0"/>
              <a:t>: [1] [3] [4]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Dynamic scheduling enhances flexibility and efficiency.</a:t>
            </a:r>
          </a:p>
          <a:p>
            <a:r>
              <a:rPr sz="2000" dirty="0"/>
              <a:t>Needs more control logic and design effort.</a:t>
            </a:r>
          </a:p>
          <a:p>
            <a:r>
              <a:rPr sz="2000" dirty="0"/>
              <a:t>Well-suited for systems without strict timing needs.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15CE6-391C-48EA-82AD-1C639B185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017DA3-EF6B-4D2E-B932-E5408A668C54}"/>
              </a:ext>
            </a:extLst>
          </p:cNvPr>
          <p:cNvSpPr/>
          <p:nvPr/>
        </p:nvSpPr>
        <p:spPr>
          <a:xfrm>
            <a:off x="8077200" y="6031245"/>
            <a:ext cx="241277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400" dirty="0" err="1"/>
              <a:t>Referenced</a:t>
            </a:r>
            <a:r>
              <a:rPr lang="de-DE" sz="1400" dirty="0"/>
              <a:t> </a:t>
            </a:r>
            <a:r>
              <a:rPr lang="de-DE" sz="1400" dirty="0" err="1"/>
              <a:t>from</a:t>
            </a:r>
            <a:r>
              <a:rPr lang="de-DE" sz="1400" dirty="0"/>
              <a:t>: [1] [2] [3] [4]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0FAED-1C17-47BD-A4D0-B7F8B166C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4B99F-45EB-4000-B5B0-E7749D184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1400" dirty="0"/>
              <a:t>[1] Ha &amp; Teich, Handbook </a:t>
            </a:r>
            <a:r>
              <a:rPr lang="de-DE" sz="1400" dirty="0" err="1"/>
              <a:t>of</a:t>
            </a:r>
            <a:r>
              <a:rPr lang="de-DE" sz="1400" dirty="0"/>
              <a:t> HW/SW </a:t>
            </a:r>
            <a:r>
              <a:rPr lang="de-DE" sz="1400" dirty="0" err="1"/>
              <a:t>Codesign</a:t>
            </a:r>
            <a:r>
              <a:rPr lang="de-DE" sz="1400" dirty="0"/>
              <a:t>, Springer, 2017.</a:t>
            </a:r>
          </a:p>
          <a:p>
            <a:r>
              <a:rPr lang="de-DE" sz="1400" dirty="0"/>
              <a:t>[2] De </a:t>
            </a:r>
            <a:r>
              <a:rPr lang="de-DE" sz="1400" dirty="0" err="1"/>
              <a:t>Micheli</a:t>
            </a:r>
            <a:r>
              <a:rPr lang="de-DE" sz="1400" dirty="0"/>
              <a:t>, Synthesis and </a:t>
            </a:r>
            <a:r>
              <a:rPr lang="de-DE" sz="1400" dirty="0" err="1"/>
              <a:t>Optimization</a:t>
            </a:r>
            <a:r>
              <a:rPr lang="de-DE" sz="1400" dirty="0"/>
              <a:t> </a:t>
            </a:r>
            <a:r>
              <a:rPr lang="de-DE" sz="1400" dirty="0" err="1"/>
              <a:t>of</a:t>
            </a:r>
            <a:r>
              <a:rPr lang="de-DE" sz="1400" dirty="0"/>
              <a:t> Digital </a:t>
            </a:r>
            <a:r>
              <a:rPr lang="de-DE" sz="1400" dirty="0" err="1"/>
              <a:t>Circuits</a:t>
            </a:r>
            <a:r>
              <a:rPr lang="de-DE" sz="1400" dirty="0"/>
              <a:t>, McGraw-Hill, 1994.</a:t>
            </a:r>
          </a:p>
          <a:p>
            <a:r>
              <a:rPr lang="de-DE" sz="1400" dirty="0"/>
              <a:t>[3] Rettberg, Low Power Driven High-Level Synthesis, PhD Thesis, University </a:t>
            </a:r>
            <a:r>
              <a:rPr lang="de-DE" sz="1400" dirty="0" err="1"/>
              <a:t>of</a:t>
            </a:r>
            <a:r>
              <a:rPr lang="de-DE" sz="1400" dirty="0"/>
              <a:t> Paderborn, 2006.</a:t>
            </a:r>
          </a:p>
          <a:p>
            <a:r>
              <a:rPr lang="de-DE" sz="1400" dirty="0"/>
              <a:t>[4] Scheffer et al., EDA </a:t>
            </a:r>
            <a:r>
              <a:rPr lang="de-DE" sz="1400" dirty="0" err="1"/>
              <a:t>for</a:t>
            </a:r>
            <a:r>
              <a:rPr lang="de-DE" sz="1400" dirty="0"/>
              <a:t> IC Design, </a:t>
            </a:r>
            <a:r>
              <a:rPr lang="de-DE" sz="1400" dirty="0" err="1"/>
              <a:t>Verification</a:t>
            </a:r>
            <a:r>
              <a:rPr lang="de-DE" sz="1400" dirty="0"/>
              <a:t> and </a:t>
            </a:r>
            <a:r>
              <a:rPr lang="de-DE" sz="1400" dirty="0" err="1"/>
              <a:t>Testing</a:t>
            </a:r>
            <a:r>
              <a:rPr lang="de-DE" sz="1400" dirty="0"/>
              <a:t> (2nd </a:t>
            </a:r>
            <a:r>
              <a:rPr lang="de-DE" sz="1400" dirty="0" err="1"/>
              <a:t>ed</a:t>
            </a:r>
            <a:r>
              <a:rPr lang="de-DE" sz="1400" dirty="0"/>
              <a:t>.), CRC Press, 2016.</a:t>
            </a:r>
          </a:p>
          <a:p>
            <a:pPr marL="0" indent="0">
              <a:buNone/>
            </a:pPr>
            <a:endParaRPr lang="de-DE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E575E7-3922-4952-8557-F608D3E5B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6213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550</Words>
  <Application>Microsoft Office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Dynamic Scheduling without Real-Time Requirements</vt:lpstr>
      <vt:lpstr>Introduction</vt:lpstr>
      <vt:lpstr>Motivation</vt:lpstr>
      <vt:lpstr>Static vs. Dynamic Scheduling</vt:lpstr>
      <vt:lpstr>Formal Modeling</vt:lpstr>
      <vt:lpstr> Hardware Implementation</vt:lpstr>
      <vt:lpstr> Use Case Example</vt:lpstr>
      <vt:lpstr>Benefits &amp; Trade-Offs</vt:lpstr>
      <vt:lpstr>When to Use Dynamic Scheduling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Scheduling without Real-Time Requirements</dc:title>
  <dc:creator>zfw</dc:creator>
  <cp:lastModifiedBy>zfw</cp:lastModifiedBy>
  <cp:revision>4</cp:revision>
  <dcterms:created xsi:type="dcterms:W3CDTF">2025-06-29T19:04:08Z</dcterms:created>
  <dcterms:modified xsi:type="dcterms:W3CDTF">2025-06-29T20:06:57Z</dcterms:modified>
</cp:coreProperties>
</file>